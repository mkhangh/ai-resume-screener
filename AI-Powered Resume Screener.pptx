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2" r:id="rId3"/>
    <p:sldId id="267" r:id="rId4"/>
    <p:sldId id="266" r:id="rId5"/>
    <p:sldId id="268" r:id="rId6"/>
    <p:sldId id="269" r:id="rId7"/>
    <p:sldId id="270" r:id="rId8"/>
    <p:sldId id="260" r:id="rId9"/>
    <p:sldId id="257" r:id="rId10"/>
    <p:sldId id="271" r:id="rId11"/>
    <p:sldId id="264" r:id="rId12"/>
    <p:sldId id="272" r:id="rId13"/>
    <p:sldId id="273" r:id="rId14"/>
    <p:sldId id="265" r:id="rId15"/>
    <p:sldId id="26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3577"/>
    <a:srgbClr val="14558F"/>
    <a:srgbClr val="148D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8FE2D0-5A1D-44CB-B492-2BBC7AC19298}" type="datetimeFigureOut">
              <a:rPr lang="en-IN" smtClean="0"/>
              <a:t>03/06/2026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836DB-60E3-4600-BD2F-4631C923D11E}" type="slidenum">
              <a:rPr lang="en-IN" smtClean="0"/>
              <a:t>‹#›</a:t>
            </a:fld>
            <a:endParaRPr lang="en-IN"/>
          </a:p>
        </p:txBody>
      </p:sp>
    </p:spTree>
    <p:extLst>
      <p:ext uri="{BB962C8B-B14F-4D97-AF65-F5344CB8AC3E}">
        <p14:creationId xmlns:p14="http://schemas.microsoft.com/office/powerpoint/2010/main" val="1740014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836DB-60E3-4600-BD2F-4631C923D11E}" type="slidenum">
              <a:rPr lang="en-IN" smtClean="0"/>
              <a:t>2</a:t>
            </a:fld>
            <a:endParaRPr lang="en-IN"/>
          </a:p>
        </p:txBody>
      </p:sp>
    </p:spTree>
    <p:extLst>
      <p:ext uri="{BB962C8B-B14F-4D97-AF65-F5344CB8AC3E}">
        <p14:creationId xmlns:p14="http://schemas.microsoft.com/office/powerpoint/2010/main" val="1848290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836DB-60E3-4600-BD2F-4631C923D11E}" type="slidenum">
              <a:rPr lang="en-IN" smtClean="0"/>
              <a:t>3</a:t>
            </a:fld>
            <a:endParaRPr lang="en-IN"/>
          </a:p>
        </p:txBody>
      </p:sp>
    </p:spTree>
    <p:extLst>
      <p:ext uri="{BB962C8B-B14F-4D97-AF65-F5344CB8AC3E}">
        <p14:creationId xmlns:p14="http://schemas.microsoft.com/office/powerpoint/2010/main" val="2766851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836DB-60E3-4600-BD2F-4631C923D11E}" type="slidenum">
              <a:rPr lang="en-IN" smtClean="0"/>
              <a:t>4</a:t>
            </a:fld>
            <a:endParaRPr lang="en-IN"/>
          </a:p>
        </p:txBody>
      </p:sp>
    </p:spTree>
    <p:extLst>
      <p:ext uri="{BB962C8B-B14F-4D97-AF65-F5344CB8AC3E}">
        <p14:creationId xmlns:p14="http://schemas.microsoft.com/office/powerpoint/2010/main" val="2813869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836DB-60E3-4600-BD2F-4631C923D11E}" type="slidenum">
              <a:rPr lang="en-IN" smtClean="0"/>
              <a:t>5</a:t>
            </a:fld>
            <a:endParaRPr lang="en-IN"/>
          </a:p>
        </p:txBody>
      </p:sp>
    </p:spTree>
    <p:extLst>
      <p:ext uri="{BB962C8B-B14F-4D97-AF65-F5344CB8AC3E}">
        <p14:creationId xmlns:p14="http://schemas.microsoft.com/office/powerpoint/2010/main" val="320359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836DB-60E3-4600-BD2F-4631C923D11E}" type="slidenum">
              <a:rPr lang="en-IN" smtClean="0"/>
              <a:t>6</a:t>
            </a:fld>
            <a:endParaRPr lang="en-IN"/>
          </a:p>
        </p:txBody>
      </p:sp>
    </p:spTree>
    <p:extLst>
      <p:ext uri="{BB962C8B-B14F-4D97-AF65-F5344CB8AC3E}">
        <p14:creationId xmlns:p14="http://schemas.microsoft.com/office/powerpoint/2010/main" val="1036475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8531-3442-B352-3652-495CF654A3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855C28-2728-016A-8840-AA7C4B3735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DE3C58-ACE4-4537-D048-F1AAF9FD182F}"/>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5" name="Footer Placeholder 4">
            <a:extLst>
              <a:ext uri="{FF2B5EF4-FFF2-40B4-BE49-F238E27FC236}">
                <a16:creationId xmlns:a16="http://schemas.microsoft.com/office/drawing/2014/main" id="{A0BC617E-B613-A920-2D92-58DC53AE2D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DBF048-CF43-4330-7829-A2201C2ACB95}"/>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257094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43FD-AAF2-6C32-41A9-4CE0BE3693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B10F07-43C7-B26B-121A-0D3757DA39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36473A-380F-103B-AE3B-0A8DCF91EAB6}"/>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5" name="Footer Placeholder 4">
            <a:extLst>
              <a:ext uri="{FF2B5EF4-FFF2-40B4-BE49-F238E27FC236}">
                <a16:creationId xmlns:a16="http://schemas.microsoft.com/office/drawing/2014/main" id="{AA25BA22-3052-E33C-8897-88792F5E8C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F1C79D-9AC3-5E5B-7970-73DF46826EF4}"/>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276647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AC27E-1C4F-30EB-CF4C-FEB14D49BD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CAA6C78-0BE1-DC04-3ACD-B8B775D011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1F76C2-9DE1-F3CB-0D0F-B45C4E56957F}"/>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5" name="Footer Placeholder 4">
            <a:extLst>
              <a:ext uri="{FF2B5EF4-FFF2-40B4-BE49-F238E27FC236}">
                <a16:creationId xmlns:a16="http://schemas.microsoft.com/office/drawing/2014/main" id="{0CADA096-E0F5-5EAC-BBBF-5987EDAAB4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2BD88C-024E-8D01-33C0-AE0128FA807E}"/>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3580041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CF10F-F906-EF44-EAD0-3E6ADBCE9B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C3AA66-2F3F-A450-7246-322B391C5B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5B6113-D739-614A-B832-A3FE78A9ED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69F1C13-1FC4-C22C-0CA6-376BC70E180E}"/>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6" name="Footer Placeholder 5">
            <a:extLst>
              <a:ext uri="{FF2B5EF4-FFF2-40B4-BE49-F238E27FC236}">
                <a16:creationId xmlns:a16="http://schemas.microsoft.com/office/drawing/2014/main" id="{E2DC1723-42A4-91A0-5CE3-4E31CA56B1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E06AB1-9320-4B1E-B6F7-BF42D905C2CE}"/>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1737184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9D9D5-7A9C-BD28-A143-1C3D48E6F3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94F54A2-9068-D357-2D4C-6E5E9F467E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46074E-1366-3A4A-4E26-918B8F6A95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9F4B72-7799-04F6-18DC-822EE2B28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80ABBD-A4DA-9CFD-F93A-561E7B7B80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7A44B9-664B-F577-6109-31612E27BE48}"/>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8" name="Footer Placeholder 7">
            <a:extLst>
              <a:ext uri="{FF2B5EF4-FFF2-40B4-BE49-F238E27FC236}">
                <a16:creationId xmlns:a16="http://schemas.microsoft.com/office/drawing/2014/main" id="{05AF0AB7-6C85-3D86-74EA-E191D119BF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98F0778-0B2A-15B0-9B85-4797B9663B34}"/>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51538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2EF51-F068-2420-CFEB-726F8B0B05E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9CFF26-DD96-7D74-C1C4-A4BE748364E9}"/>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4" name="Footer Placeholder 3">
            <a:extLst>
              <a:ext uri="{FF2B5EF4-FFF2-40B4-BE49-F238E27FC236}">
                <a16:creationId xmlns:a16="http://schemas.microsoft.com/office/drawing/2014/main" id="{33479285-3237-CCE7-D36E-A5D7F0C189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3DE50D-688F-674E-D851-AAE32CFB5D70}"/>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283337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0994C9-DB2A-DAD0-0DA7-1A1863ADB14E}"/>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3" name="Footer Placeholder 2">
            <a:extLst>
              <a:ext uri="{FF2B5EF4-FFF2-40B4-BE49-F238E27FC236}">
                <a16:creationId xmlns:a16="http://schemas.microsoft.com/office/drawing/2014/main" id="{607C807A-5A12-BECC-F5B2-21433E852B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2DD2D1E-8478-D6E4-CE25-8F51996F7261}"/>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600932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75C2E-5F4C-16C7-39BE-65D58520BB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1ACEB5-FF28-33EC-245F-E1C9CB052F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147494-F328-73CA-ACCE-E91C71CFAE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CC239C-12F1-C855-3F15-BE066B1F90FC}"/>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6" name="Footer Placeholder 5">
            <a:extLst>
              <a:ext uri="{FF2B5EF4-FFF2-40B4-BE49-F238E27FC236}">
                <a16:creationId xmlns:a16="http://schemas.microsoft.com/office/drawing/2014/main" id="{C2C3BF16-CAB2-F27A-CE00-52388FB72B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289049-9704-8394-4A86-0436C4B87745}"/>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1667351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3D37-E805-4F7B-FD41-3171848CE1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083F3D-E03F-A307-EAFB-4F9C375EF5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3F75C2-1FA6-FFA0-91B3-C87FFDB678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98813-8CAE-299E-EC16-5AA9671DC463}"/>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6" name="Footer Placeholder 5">
            <a:extLst>
              <a:ext uri="{FF2B5EF4-FFF2-40B4-BE49-F238E27FC236}">
                <a16:creationId xmlns:a16="http://schemas.microsoft.com/office/drawing/2014/main" id="{D26156FE-6B00-4CA1-432D-6A8EDBC58A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E6206C-DC3C-9B97-FCD5-167881524699}"/>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1015307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37BD2-81BA-CA08-EECC-FF62CA69E47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E2F74B-F49D-E57D-9766-15C3928508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3EADFD-35E1-3CE4-7A70-E3B2B454E482}"/>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5" name="Footer Placeholder 4">
            <a:extLst>
              <a:ext uri="{FF2B5EF4-FFF2-40B4-BE49-F238E27FC236}">
                <a16:creationId xmlns:a16="http://schemas.microsoft.com/office/drawing/2014/main" id="{0DEE128A-33AB-1E9F-6BC0-FBC740FD34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03150B-6561-ECC5-5D59-149583D78C49}"/>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415968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9A7ABB-9911-283C-BDF9-BB2DA4495C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C6BACC-51A3-DE09-EBAD-A917EAC48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DDC5CC-FBAA-46AB-5D0D-F80154E3623B}"/>
              </a:ext>
            </a:extLst>
          </p:cNvPr>
          <p:cNvSpPr>
            <a:spLocks noGrp="1"/>
          </p:cNvSpPr>
          <p:nvPr>
            <p:ph type="dt" sz="half" idx="10"/>
          </p:nvPr>
        </p:nvSpPr>
        <p:spPr/>
        <p:txBody>
          <a:bodyPr/>
          <a:lstStyle/>
          <a:p>
            <a:fld id="{8A87D88D-F0A6-4E58-80CE-6E829E5F3F35}" type="datetimeFigureOut">
              <a:rPr lang="en-IN" smtClean="0"/>
              <a:t>03/06/2026</a:t>
            </a:fld>
            <a:endParaRPr lang="en-IN"/>
          </a:p>
        </p:txBody>
      </p:sp>
      <p:sp>
        <p:nvSpPr>
          <p:cNvPr id="5" name="Footer Placeholder 4">
            <a:extLst>
              <a:ext uri="{FF2B5EF4-FFF2-40B4-BE49-F238E27FC236}">
                <a16:creationId xmlns:a16="http://schemas.microsoft.com/office/drawing/2014/main" id="{017DCA6E-52B1-1A31-5C84-93F4840DE8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DA31EF-202C-E07A-3321-77F3A05B49C4}"/>
              </a:ext>
            </a:extLst>
          </p:cNvPr>
          <p:cNvSpPr>
            <a:spLocks noGrp="1"/>
          </p:cNvSpPr>
          <p:nvPr>
            <p:ph type="sldNum" sz="quarter" idx="12"/>
          </p:nvPr>
        </p:nvSpPr>
        <p:spPr/>
        <p:txBody>
          <a:bodyPr/>
          <a:lstStyle/>
          <a:p>
            <a:fld id="{D48CCE69-584D-483C-AEC9-10CFF235490E}" type="slidenum">
              <a:rPr lang="en-IN" smtClean="0"/>
              <a:t>‹#›</a:t>
            </a:fld>
            <a:endParaRPr lang="en-IN"/>
          </a:p>
        </p:txBody>
      </p:sp>
    </p:spTree>
    <p:extLst>
      <p:ext uri="{BB962C8B-B14F-4D97-AF65-F5344CB8AC3E}">
        <p14:creationId xmlns:p14="http://schemas.microsoft.com/office/powerpoint/2010/main" val="2547645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7376B5-4492-74FA-CD4B-C6F9CD4DAC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0AD42E-4338-3573-A7E4-EEFD29FC7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51B18C-2476-EBF0-CE0F-A81E937770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A87D88D-F0A6-4E58-80CE-6E829E5F3F35}" type="datetimeFigureOut">
              <a:rPr lang="en-IN" smtClean="0"/>
              <a:t>03/06/2026</a:t>
            </a:fld>
            <a:endParaRPr lang="en-IN"/>
          </a:p>
        </p:txBody>
      </p:sp>
      <p:sp>
        <p:nvSpPr>
          <p:cNvPr id="5" name="Footer Placeholder 4">
            <a:extLst>
              <a:ext uri="{FF2B5EF4-FFF2-40B4-BE49-F238E27FC236}">
                <a16:creationId xmlns:a16="http://schemas.microsoft.com/office/drawing/2014/main" id="{F2B86F27-BF7C-9ED7-5444-585448D616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8D7D46B-5EE3-CCFB-5616-7B5DD1BD09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8CCE69-584D-483C-AEC9-10CFF235490E}" type="slidenum">
              <a:rPr lang="en-IN" smtClean="0"/>
              <a:t>‹#›</a:t>
            </a:fld>
            <a:endParaRPr lang="en-IN"/>
          </a:p>
        </p:txBody>
      </p:sp>
    </p:spTree>
    <p:extLst>
      <p:ext uri="{BB962C8B-B14F-4D97-AF65-F5344CB8AC3E}">
        <p14:creationId xmlns:p14="http://schemas.microsoft.com/office/powerpoint/2010/main" val="2479311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console.groq.com/?utm_source=chatgpt.com" TargetMode="External"/><Relationship Id="rId2" Type="http://schemas.openxmlformats.org/officeDocument/2006/relationships/hyperlink" Target="https://n8n.io/cloud/?utm_source=chatgpt.com"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7138219" y="1166841"/>
            <a:ext cx="4483510" cy="452431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Project Title : AI-Powered Resume Screener Project</a:t>
            </a:r>
          </a:p>
          <a:p>
            <a:pPr algn="ctr"/>
            <a:endParaRPr lang="en-IN" sz="3200" dirty="0">
              <a:solidFill>
                <a:schemeClr val="bg1"/>
              </a:solidFill>
              <a:latin typeface="Calibri" panose="020F0502020204030204" pitchFamily="34" charset="0"/>
              <a:cs typeface="Calibri" panose="020F0502020204030204" pitchFamily="34" charset="0"/>
            </a:endParaRPr>
          </a:p>
          <a:p>
            <a:pPr algn="ctr"/>
            <a:endParaRPr lang="en-IN" sz="3200" dirty="0">
              <a:solidFill>
                <a:schemeClr val="bg1"/>
              </a:solidFill>
              <a:latin typeface="Calibri" panose="020F0502020204030204" pitchFamily="34" charset="0"/>
              <a:cs typeface="Calibri" panose="020F0502020204030204" pitchFamily="34" charset="0"/>
            </a:endParaRPr>
          </a:p>
          <a:p>
            <a:pPr algn="ctr"/>
            <a:r>
              <a:rPr lang="en-IN" sz="3200" dirty="0">
                <a:solidFill>
                  <a:schemeClr val="bg1"/>
                </a:solidFill>
                <a:latin typeface="Calibri" panose="020F0502020204030204" pitchFamily="34" charset="0"/>
                <a:cs typeface="Calibri" panose="020F0502020204030204" pitchFamily="34" charset="0"/>
              </a:rPr>
              <a:t>Name : Mahboob Khan</a:t>
            </a:r>
          </a:p>
          <a:p>
            <a:pPr algn="ctr"/>
            <a:endParaRPr lang="en-IN" sz="3200" dirty="0">
              <a:solidFill>
                <a:schemeClr val="bg1"/>
              </a:solidFill>
              <a:latin typeface="Calibri" panose="020F0502020204030204" pitchFamily="34" charset="0"/>
              <a:cs typeface="Calibri" panose="020F0502020204030204" pitchFamily="34" charset="0"/>
            </a:endParaRPr>
          </a:p>
          <a:p>
            <a:pPr algn="ctr"/>
            <a:endParaRPr lang="en-IN" sz="3200" dirty="0">
              <a:solidFill>
                <a:schemeClr val="bg1"/>
              </a:solidFill>
              <a:latin typeface="Calibri" panose="020F0502020204030204" pitchFamily="34" charset="0"/>
              <a:cs typeface="Calibri" panose="020F0502020204030204" pitchFamily="34" charset="0"/>
            </a:endParaRPr>
          </a:p>
          <a:p>
            <a:pPr algn="ctr"/>
            <a:r>
              <a:rPr lang="en-IN" sz="3200" dirty="0">
                <a:solidFill>
                  <a:schemeClr val="bg1"/>
                </a:solidFill>
                <a:latin typeface="Calibri" panose="020F0502020204030204" pitchFamily="34" charset="0"/>
                <a:cs typeface="Calibri" panose="020F0502020204030204" pitchFamily="34" charset="0"/>
              </a:rPr>
              <a:t>Date : 01/06/2026</a:t>
            </a:r>
          </a:p>
          <a:p>
            <a:pPr algn="ctr"/>
            <a:endParaRPr lang="en-IN" sz="3200"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E62B6543-85C0-0340-9C10-3FF34951B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935" y="1166841"/>
            <a:ext cx="6009968" cy="4524315"/>
          </a:xfrm>
          <a:prstGeom prst="rect">
            <a:avLst/>
          </a:prstGeom>
        </p:spPr>
      </p:pic>
      <p:sp>
        <p:nvSpPr>
          <p:cNvPr id="9" name="TextBox 8">
            <a:extLst>
              <a:ext uri="{FF2B5EF4-FFF2-40B4-BE49-F238E27FC236}">
                <a16:creationId xmlns:a16="http://schemas.microsoft.com/office/drawing/2014/main" id="{351FA4B6-FD6F-3242-B50E-56CFD84771F9}"/>
              </a:ext>
            </a:extLst>
          </p:cNvPr>
          <p:cNvSpPr txBox="1"/>
          <p:nvPr/>
        </p:nvSpPr>
        <p:spPr>
          <a:xfrm>
            <a:off x="-14750" y="-314"/>
            <a:ext cx="12206749" cy="430887"/>
          </a:xfrm>
          <a:prstGeom prst="rect">
            <a:avLst/>
          </a:prstGeom>
          <a:solidFill>
            <a:srgbClr val="223577"/>
          </a:solidFill>
          <a:ln>
            <a:solidFill>
              <a:srgbClr val="14558F"/>
            </a:solidFill>
          </a:ln>
        </p:spPr>
        <p:txBody>
          <a:bodyPr wrap="square">
            <a:spAutoFit/>
          </a:bodyPr>
          <a:lstStyle/>
          <a:p>
            <a:pPr algn="ctr"/>
            <a:endParaRPr lang="en-IN" sz="2200"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557B31C1-EE6B-D8E9-EA03-808E28F0DACF}"/>
              </a:ext>
            </a:extLst>
          </p:cNvPr>
          <p:cNvSpPr txBox="1"/>
          <p:nvPr/>
        </p:nvSpPr>
        <p:spPr>
          <a:xfrm>
            <a:off x="19666" y="6420140"/>
            <a:ext cx="12206749" cy="430887"/>
          </a:xfrm>
          <a:prstGeom prst="rect">
            <a:avLst/>
          </a:prstGeom>
          <a:solidFill>
            <a:srgbClr val="223577"/>
          </a:solidFill>
        </p:spPr>
        <p:txBody>
          <a:bodyPr wrap="square">
            <a:spAutoFit/>
          </a:bodyPr>
          <a:lstStyle/>
          <a:p>
            <a:pPr algn="ctr"/>
            <a:endParaRPr lang="en-IN" sz="22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4143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Agenda</a:t>
            </a:r>
          </a:p>
        </p:txBody>
      </p:sp>
      <p:sp>
        <p:nvSpPr>
          <p:cNvPr id="2" name="Rectangle 1">
            <a:extLst>
              <a:ext uri="{FF2B5EF4-FFF2-40B4-BE49-F238E27FC236}">
                <a16:creationId xmlns:a16="http://schemas.microsoft.com/office/drawing/2014/main" id="{7A6397B0-70FA-21D0-FB9B-E1D550C77CE3}"/>
              </a:ext>
            </a:extLst>
          </p:cNvPr>
          <p:cNvSpPr>
            <a:spLocks noChangeArrowheads="1"/>
          </p:cNvSpPr>
          <p:nvPr/>
        </p:nvSpPr>
        <p:spPr bwMode="auto">
          <a:xfrm>
            <a:off x="1135626" y="1740417"/>
            <a:ext cx="1048610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Project Overview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Problem Statement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Project Goal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Existing Process Challenges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Proposed Solution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Workflow Architecture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Tools &amp; Technologies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Process Flow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AI Resume Evaluation Logic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Automated Email Notification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Google Sheet Storage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Sample Output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Business Benefits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Future Enhancements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Conclusion </a:t>
            </a:r>
          </a:p>
        </p:txBody>
      </p:sp>
    </p:spTree>
    <p:extLst>
      <p:ext uri="{BB962C8B-B14F-4D97-AF65-F5344CB8AC3E}">
        <p14:creationId xmlns:p14="http://schemas.microsoft.com/office/powerpoint/2010/main" val="3576447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Problem Statement</a:t>
            </a:r>
          </a:p>
        </p:txBody>
      </p:sp>
      <p:sp>
        <p:nvSpPr>
          <p:cNvPr id="4" name="TextBox 3">
            <a:extLst>
              <a:ext uri="{FF2B5EF4-FFF2-40B4-BE49-F238E27FC236}">
                <a16:creationId xmlns:a16="http://schemas.microsoft.com/office/drawing/2014/main" id="{6CDC45DE-2F76-4520-B08F-954A2C948B09}"/>
              </a:ext>
            </a:extLst>
          </p:cNvPr>
          <p:cNvSpPr txBox="1"/>
          <p:nvPr/>
        </p:nvSpPr>
        <p:spPr>
          <a:xfrm>
            <a:off x="1091381" y="2329989"/>
            <a:ext cx="10530348" cy="3139321"/>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Challenges :</a:t>
            </a:r>
          </a:p>
          <a:p>
            <a:endParaRPr lang="en-GB"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Manual resume screening is time-consuming.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Human evaluation may introduce bias.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Important candidates can be overlooked.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Recruitment teams spend excessive effort on initial screening.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Delays in candidate communication. </a:t>
            </a:r>
          </a:p>
          <a:p>
            <a:endParaRPr lang="en-GB" b="1"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Result :</a:t>
            </a:r>
          </a:p>
          <a:p>
            <a:endParaRPr lang="en-GB" b="1"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Higher hiring costs and slower recruitment cycles.</a:t>
            </a:r>
          </a:p>
        </p:txBody>
      </p:sp>
      <p:sp>
        <p:nvSpPr>
          <p:cNvPr id="7" name="TextBox 6">
            <a:extLst>
              <a:ext uri="{FF2B5EF4-FFF2-40B4-BE49-F238E27FC236}">
                <a16:creationId xmlns:a16="http://schemas.microsoft.com/office/drawing/2014/main" id="{1B87D879-59DB-A1F3-48F7-13DAA19E63A2}"/>
              </a:ext>
            </a:extLst>
          </p:cNvPr>
          <p:cNvSpPr txBox="1"/>
          <p:nvPr/>
        </p:nvSpPr>
        <p:spPr>
          <a:xfrm>
            <a:off x="570271" y="1388690"/>
            <a:ext cx="11031794" cy="369332"/>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Recruiters often receive hundreds of resumes for a single job opening.</a:t>
            </a:r>
            <a:endParaRPr lang="en-IN" dirty="0"/>
          </a:p>
        </p:txBody>
      </p:sp>
    </p:spTree>
    <p:extLst>
      <p:ext uri="{BB962C8B-B14F-4D97-AF65-F5344CB8AC3E}">
        <p14:creationId xmlns:p14="http://schemas.microsoft.com/office/powerpoint/2010/main" val="856439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Project Overview</a:t>
            </a:r>
          </a:p>
        </p:txBody>
      </p:sp>
      <p:sp>
        <p:nvSpPr>
          <p:cNvPr id="4" name="TextBox 3">
            <a:extLst>
              <a:ext uri="{FF2B5EF4-FFF2-40B4-BE49-F238E27FC236}">
                <a16:creationId xmlns:a16="http://schemas.microsoft.com/office/drawing/2014/main" id="{70E98DC7-87A0-B888-CB59-7EA3DA2211C8}"/>
              </a:ext>
            </a:extLst>
          </p:cNvPr>
          <p:cNvSpPr txBox="1"/>
          <p:nvPr/>
        </p:nvSpPr>
        <p:spPr>
          <a:xfrm>
            <a:off x="589935" y="1599821"/>
            <a:ext cx="11031794"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AI-Powered Resume Screening System automates the recruitment process by analysing candidate resumes, evaluating skills and experience using AI, assigning scores, storing results in Google Sheets, and automatically sending emails to shortlisted candidates.</a:t>
            </a:r>
            <a:endParaRPr lang="en-IN"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C096F5A-C868-8B5D-1D2D-38892C929A0B}"/>
              </a:ext>
            </a:extLst>
          </p:cNvPr>
          <p:cNvSpPr txBox="1"/>
          <p:nvPr/>
        </p:nvSpPr>
        <p:spPr>
          <a:xfrm>
            <a:off x="1268361" y="3018022"/>
            <a:ext cx="6098458" cy="2308324"/>
          </a:xfrm>
          <a:prstGeom prst="rect">
            <a:avLst/>
          </a:prstGeom>
          <a:noFill/>
        </p:spPr>
        <p:txBody>
          <a:bodyPr wrap="square">
            <a:spAutoFit/>
          </a:bodyPr>
          <a:lstStyle/>
          <a:p>
            <a:r>
              <a:rPr lang="en-IN" b="1" dirty="0">
                <a:latin typeface="Calibri" panose="020F0502020204030204" pitchFamily="34" charset="0"/>
                <a:cs typeface="Calibri" panose="020F0502020204030204" pitchFamily="34" charset="0"/>
              </a:rPr>
              <a:t>Key Features :</a:t>
            </a:r>
          </a:p>
          <a:p>
            <a:endParaRPr lang="en-IN" b="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 Resume Parsing</a:t>
            </a:r>
          </a:p>
          <a:p>
            <a:r>
              <a:rPr lang="en-IN" dirty="0">
                <a:latin typeface="Calibri" panose="020F0502020204030204" pitchFamily="34" charset="0"/>
                <a:cs typeface="Calibri" panose="020F0502020204030204" pitchFamily="34" charset="0"/>
              </a:rPr>
              <a:t>    ✔ AI-Based Candidate Evaluation</a:t>
            </a:r>
          </a:p>
          <a:p>
            <a:r>
              <a:rPr lang="en-IN" dirty="0">
                <a:latin typeface="Calibri" panose="020F0502020204030204" pitchFamily="34" charset="0"/>
                <a:cs typeface="Calibri" panose="020F0502020204030204" pitchFamily="34" charset="0"/>
              </a:rPr>
              <a:t>    ✔ Automatic Scoring</a:t>
            </a:r>
          </a:p>
          <a:p>
            <a:r>
              <a:rPr lang="en-IN" dirty="0">
                <a:latin typeface="Calibri" panose="020F0502020204030204" pitchFamily="34" charset="0"/>
                <a:cs typeface="Calibri" panose="020F0502020204030204" pitchFamily="34" charset="0"/>
              </a:rPr>
              <a:t>    ✔ Candidate Ranking</a:t>
            </a:r>
          </a:p>
          <a:p>
            <a:r>
              <a:rPr lang="en-IN" dirty="0">
                <a:latin typeface="Calibri" panose="020F0502020204030204" pitchFamily="34" charset="0"/>
                <a:cs typeface="Calibri" panose="020F0502020204030204" pitchFamily="34" charset="0"/>
              </a:rPr>
              <a:t>    ✔ Google Sheet Storage</a:t>
            </a:r>
          </a:p>
          <a:p>
            <a:r>
              <a:rPr lang="en-IN" dirty="0">
                <a:latin typeface="Calibri" panose="020F0502020204030204" pitchFamily="34" charset="0"/>
                <a:cs typeface="Calibri" panose="020F0502020204030204" pitchFamily="34" charset="0"/>
              </a:rPr>
              <a:t>    ✔ Automated Email Notifications</a:t>
            </a:r>
          </a:p>
        </p:txBody>
      </p:sp>
    </p:spTree>
    <p:extLst>
      <p:ext uri="{BB962C8B-B14F-4D97-AF65-F5344CB8AC3E}">
        <p14:creationId xmlns:p14="http://schemas.microsoft.com/office/powerpoint/2010/main" val="1400089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Goal</a:t>
            </a:r>
          </a:p>
        </p:txBody>
      </p:sp>
      <p:sp>
        <p:nvSpPr>
          <p:cNvPr id="3" name="TextBox 2">
            <a:extLst>
              <a:ext uri="{FF2B5EF4-FFF2-40B4-BE49-F238E27FC236}">
                <a16:creationId xmlns:a16="http://schemas.microsoft.com/office/drawing/2014/main" id="{2728A07E-CBC5-E1DD-F52C-4270007031CB}"/>
              </a:ext>
            </a:extLst>
          </p:cNvPr>
          <p:cNvSpPr txBox="1"/>
          <p:nvPr/>
        </p:nvSpPr>
        <p:spPr>
          <a:xfrm>
            <a:off x="1061884" y="2106843"/>
            <a:ext cx="9822426" cy="2031325"/>
          </a:xfrm>
          <a:prstGeom prst="rect">
            <a:avLst/>
          </a:prstGeom>
          <a:noFill/>
        </p:spPr>
        <p:txBody>
          <a:bodyPr wrap="square">
            <a:spAutoFit/>
          </a:bodyPr>
          <a:lstStyle/>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Automatically reads resumes.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Extracts candidate information.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Evaluates resumes using AI.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Generates candidate scores.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Shortlists qualified applicants.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Sends automated email notifications.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Stores all records for tracking and reporting.</a:t>
            </a:r>
          </a:p>
        </p:txBody>
      </p:sp>
      <p:sp>
        <p:nvSpPr>
          <p:cNvPr id="7" name="TextBox 6">
            <a:extLst>
              <a:ext uri="{FF2B5EF4-FFF2-40B4-BE49-F238E27FC236}">
                <a16:creationId xmlns:a16="http://schemas.microsoft.com/office/drawing/2014/main" id="{E7FFF6C6-83E8-1C59-4F7B-DC556E111A19}"/>
              </a:ext>
            </a:extLst>
          </p:cNvPr>
          <p:cNvSpPr txBox="1"/>
          <p:nvPr/>
        </p:nvSpPr>
        <p:spPr>
          <a:xfrm>
            <a:off x="589935" y="1345342"/>
            <a:ext cx="11031794" cy="369332"/>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To develop an intelligent recruitment automation system that:</a:t>
            </a:r>
            <a:endParaRPr lang="en-IN" dirty="0"/>
          </a:p>
        </p:txBody>
      </p:sp>
    </p:spTree>
    <p:extLst>
      <p:ext uri="{BB962C8B-B14F-4D97-AF65-F5344CB8AC3E}">
        <p14:creationId xmlns:p14="http://schemas.microsoft.com/office/powerpoint/2010/main" val="2227456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Existing vs Proposed Process</a:t>
            </a:r>
          </a:p>
        </p:txBody>
      </p:sp>
      <p:sp>
        <p:nvSpPr>
          <p:cNvPr id="4" name="TextBox 3">
            <a:extLst>
              <a:ext uri="{FF2B5EF4-FFF2-40B4-BE49-F238E27FC236}">
                <a16:creationId xmlns:a16="http://schemas.microsoft.com/office/drawing/2014/main" id="{7D5CF9C7-DAC2-152A-D5F3-8D9FD88A88DA}"/>
              </a:ext>
            </a:extLst>
          </p:cNvPr>
          <p:cNvSpPr txBox="1"/>
          <p:nvPr/>
        </p:nvSpPr>
        <p:spPr>
          <a:xfrm>
            <a:off x="589935" y="1154668"/>
            <a:ext cx="4970207" cy="369332"/>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Existing Process</a:t>
            </a:r>
          </a:p>
        </p:txBody>
      </p:sp>
      <p:sp>
        <p:nvSpPr>
          <p:cNvPr id="8" name="TextBox 7">
            <a:extLst>
              <a:ext uri="{FF2B5EF4-FFF2-40B4-BE49-F238E27FC236}">
                <a16:creationId xmlns:a16="http://schemas.microsoft.com/office/drawing/2014/main" id="{E38472C6-29F0-C8E0-14E2-D70391BC6FF8}"/>
              </a:ext>
            </a:extLst>
          </p:cNvPr>
          <p:cNvSpPr txBox="1"/>
          <p:nvPr/>
        </p:nvSpPr>
        <p:spPr>
          <a:xfrm>
            <a:off x="925461" y="1723970"/>
            <a:ext cx="4000500" cy="4524315"/>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Resume Received</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Manual Review</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Shortlisting</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Email Communication</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Record Maintenance</a:t>
            </a:r>
          </a:p>
          <a:p>
            <a:endParaRPr lang="en-IN" dirty="0">
              <a:latin typeface="Calibri" panose="020F0502020204030204" pitchFamily="34" charset="0"/>
              <a:cs typeface="Calibri" panose="020F0502020204030204" pitchFamily="34" charset="0"/>
            </a:endParaRPr>
          </a:p>
          <a:p>
            <a:r>
              <a:rPr lang="en-IN" b="1" dirty="0">
                <a:latin typeface="Calibri" panose="020F0502020204030204" pitchFamily="34" charset="0"/>
                <a:cs typeface="Calibri" panose="020F0502020204030204" pitchFamily="34" charset="0"/>
              </a:rPr>
              <a:t>Problems :</a:t>
            </a:r>
          </a:p>
          <a:p>
            <a:endParaRPr lang="en-IN" b="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 Slow</a:t>
            </a:r>
          </a:p>
          <a:p>
            <a:r>
              <a:rPr lang="en-IN" dirty="0">
                <a:latin typeface="Calibri" panose="020F0502020204030204" pitchFamily="34" charset="0"/>
                <a:cs typeface="Calibri" panose="020F0502020204030204" pitchFamily="34" charset="0"/>
              </a:rPr>
              <a:t>    ❌ Manual Effort</a:t>
            </a:r>
          </a:p>
          <a:p>
            <a:r>
              <a:rPr lang="en-IN" dirty="0">
                <a:latin typeface="Calibri" panose="020F0502020204030204" pitchFamily="34" charset="0"/>
                <a:cs typeface="Calibri" panose="020F0502020204030204" pitchFamily="34" charset="0"/>
              </a:rPr>
              <a:t>    ❌ Human Errors</a:t>
            </a:r>
          </a:p>
          <a:p>
            <a:r>
              <a:rPr lang="en-IN" dirty="0">
                <a:latin typeface="Calibri" panose="020F0502020204030204" pitchFamily="34" charset="0"/>
                <a:cs typeface="Calibri" panose="020F0502020204030204" pitchFamily="34" charset="0"/>
              </a:rPr>
              <a:t>    ❌ Inconsistent Evaluation</a:t>
            </a:r>
          </a:p>
        </p:txBody>
      </p:sp>
      <p:sp>
        <p:nvSpPr>
          <p:cNvPr id="10" name="TextBox 9">
            <a:extLst>
              <a:ext uri="{FF2B5EF4-FFF2-40B4-BE49-F238E27FC236}">
                <a16:creationId xmlns:a16="http://schemas.microsoft.com/office/drawing/2014/main" id="{266237D8-833E-C11D-1D51-B07164B06CFA}"/>
              </a:ext>
            </a:extLst>
          </p:cNvPr>
          <p:cNvSpPr txBox="1"/>
          <p:nvPr/>
        </p:nvSpPr>
        <p:spPr>
          <a:xfrm>
            <a:off x="6093542" y="1154668"/>
            <a:ext cx="5508523" cy="369332"/>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Proposed Process</a:t>
            </a:r>
          </a:p>
        </p:txBody>
      </p:sp>
      <p:sp>
        <p:nvSpPr>
          <p:cNvPr id="12" name="TextBox 11">
            <a:extLst>
              <a:ext uri="{FF2B5EF4-FFF2-40B4-BE49-F238E27FC236}">
                <a16:creationId xmlns:a16="http://schemas.microsoft.com/office/drawing/2014/main" id="{BCF81D1A-3C54-86D4-F21C-955B6AB02D7C}"/>
              </a:ext>
            </a:extLst>
          </p:cNvPr>
          <p:cNvSpPr txBox="1"/>
          <p:nvPr/>
        </p:nvSpPr>
        <p:spPr>
          <a:xfrm>
            <a:off x="6544595" y="1723970"/>
            <a:ext cx="5057469" cy="5078313"/>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Resume Received</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AI Screening</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Automated Scoring</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Shortlisting</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Auto Email</a:t>
            </a:r>
          </a:p>
          <a:p>
            <a:r>
              <a:rPr lang="en-IN" dirty="0">
                <a:latin typeface="Calibri" panose="020F0502020204030204" pitchFamily="34" charset="0"/>
                <a:cs typeface="Calibri" panose="020F0502020204030204" pitchFamily="34" charset="0"/>
              </a:rPr>
              <a:t>        ↓</a:t>
            </a:r>
          </a:p>
          <a:p>
            <a:r>
              <a:rPr lang="en-IN" dirty="0">
                <a:latin typeface="Calibri" panose="020F0502020204030204" pitchFamily="34" charset="0"/>
                <a:cs typeface="Calibri" panose="020F0502020204030204" pitchFamily="34" charset="0"/>
              </a:rPr>
              <a:t>Google Sheet Update</a:t>
            </a:r>
          </a:p>
          <a:p>
            <a:endParaRPr lang="en-IN" dirty="0">
              <a:latin typeface="Calibri" panose="020F0502020204030204" pitchFamily="34" charset="0"/>
              <a:cs typeface="Calibri" panose="020F0502020204030204" pitchFamily="34" charset="0"/>
            </a:endParaRPr>
          </a:p>
          <a:p>
            <a:r>
              <a:rPr lang="en-IN" b="1" dirty="0">
                <a:latin typeface="Calibri" panose="020F0502020204030204" pitchFamily="34" charset="0"/>
                <a:cs typeface="Calibri" panose="020F0502020204030204" pitchFamily="34" charset="0"/>
              </a:rPr>
              <a:t>Benefits:</a:t>
            </a:r>
          </a:p>
          <a:p>
            <a:endParaRPr lang="en-IN" b="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 Fast</a:t>
            </a:r>
          </a:p>
          <a:p>
            <a:r>
              <a:rPr lang="en-IN" dirty="0">
                <a:latin typeface="Calibri" panose="020F0502020204030204" pitchFamily="34" charset="0"/>
                <a:cs typeface="Calibri" panose="020F0502020204030204" pitchFamily="34" charset="0"/>
              </a:rPr>
              <a:t>        ✔ Consistent</a:t>
            </a:r>
          </a:p>
          <a:p>
            <a:r>
              <a:rPr lang="en-IN" dirty="0">
                <a:latin typeface="Calibri" panose="020F0502020204030204" pitchFamily="34" charset="0"/>
                <a:cs typeface="Calibri" panose="020F0502020204030204" pitchFamily="34" charset="0"/>
              </a:rPr>
              <a:t>        ✔ Scalable</a:t>
            </a:r>
          </a:p>
          <a:p>
            <a:r>
              <a:rPr lang="en-IN" dirty="0">
                <a:latin typeface="Calibri" panose="020F0502020204030204" pitchFamily="34" charset="0"/>
                <a:cs typeface="Calibri" panose="020F0502020204030204" pitchFamily="34" charset="0"/>
              </a:rPr>
              <a:t>        ✔ Accurate</a:t>
            </a:r>
          </a:p>
        </p:txBody>
      </p:sp>
    </p:spTree>
    <p:extLst>
      <p:ext uri="{BB962C8B-B14F-4D97-AF65-F5344CB8AC3E}">
        <p14:creationId xmlns:p14="http://schemas.microsoft.com/office/powerpoint/2010/main" val="2133106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Project Architecture &amp; Workflow</a:t>
            </a:r>
          </a:p>
        </p:txBody>
      </p:sp>
      <p:sp>
        <p:nvSpPr>
          <p:cNvPr id="3" name="TextBox 2">
            <a:extLst>
              <a:ext uri="{FF2B5EF4-FFF2-40B4-BE49-F238E27FC236}">
                <a16:creationId xmlns:a16="http://schemas.microsoft.com/office/drawing/2014/main" id="{D98DFD4F-6DE9-ACCC-EFF9-CD7062D594D0}"/>
              </a:ext>
            </a:extLst>
          </p:cNvPr>
          <p:cNvSpPr txBox="1"/>
          <p:nvPr/>
        </p:nvSpPr>
        <p:spPr>
          <a:xfrm>
            <a:off x="589932" y="1125873"/>
            <a:ext cx="11012131" cy="1477328"/>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workflow starts when resumes are received through Gmail. The PDF resumes are automatically extracted and processed to retrieve candidate information. The extracted data is analysed by </a:t>
            </a:r>
            <a:r>
              <a:rPr lang="en-GB" dirty="0" err="1">
                <a:latin typeface="Calibri" panose="020F0502020204030204" pitchFamily="34" charset="0"/>
                <a:cs typeface="Calibri" panose="020F0502020204030204" pitchFamily="34" charset="0"/>
              </a:rPr>
              <a:t>Groq</a:t>
            </a:r>
            <a:r>
              <a:rPr lang="en-GB" dirty="0">
                <a:latin typeface="Calibri" panose="020F0502020204030204" pitchFamily="34" charset="0"/>
                <a:cs typeface="Calibri" panose="020F0502020204030204" pitchFamily="34" charset="0"/>
              </a:rPr>
              <a:t> AI to evaluate skills, experience, and job suitability. JavaScript processes the AI response and generates a candidate score and recommendation. The results are stored in Google Sheets, and shortlisted candidates automatically receive email notifications based on predefined scoring criteria.</a:t>
            </a:r>
            <a:endParaRPr lang="en-IN" dirty="0">
              <a:latin typeface="Calibri" panose="020F0502020204030204" pitchFamily="34" charset="0"/>
              <a:cs typeface="Calibri" panose="020F0502020204030204" pitchFamily="34" charset="0"/>
            </a:endParaRPr>
          </a:p>
        </p:txBody>
      </p:sp>
      <p:cxnSp>
        <p:nvCxnSpPr>
          <p:cNvPr id="41" name="Straight Connector 40">
            <a:extLst>
              <a:ext uri="{FF2B5EF4-FFF2-40B4-BE49-F238E27FC236}">
                <a16:creationId xmlns:a16="http://schemas.microsoft.com/office/drawing/2014/main" id="{99459EFB-5BF0-60B4-AA17-41D3DFA079B0}"/>
              </a:ext>
            </a:extLst>
          </p:cNvPr>
          <p:cNvCxnSpPr/>
          <p:nvPr/>
        </p:nvCxnSpPr>
        <p:spPr>
          <a:xfrm>
            <a:off x="609596" y="6466911"/>
            <a:ext cx="11012133"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BF89272E-84EA-3C66-BE13-5EA47270BB7B}"/>
              </a:ext>
            </a:extLst>
          </p:cNvPr>
          <p:cNvPicPr>
            <a:picLocks noChangeAspect="1"/>
          </p:cNvPicPr>
          <p:nvPr/>
        </p:nvPicPr>
        <p:blipFill>
          <a:blip r:embed="rId2"/>
          <a:stretch>
            <a:fillRect/>
          </a:stretch>
        </p:blipFill>
        <p:spPr>
          <a:xfrm>
            <a:off x="609598" y="2967629"/>
            <a:ext cx="11012131" cy="2956225"/>
          </a:xfrm>
          <a:prstGeom prst="rect">
            <a:avLst/>
          </a:prstGeom>
        </p:spPr>
      </p:pic>
    </p:spTree>
    <p:extLst>
      <p:ext uri="{BB962C8B-B14F-4D97-AF65-F5344CB8AC3E}">
        <p14:creationId xmlns:p14="http://schemas.microsoft.com/office/powerpoint/2010/main" val="251919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Tools to be used</a:t>
            </a:r>
          </a:p>
        </p:txBody>
      </p:sp>
      <p:graphicFrame>
        <p:nvGraphicFramePr>
          <p:cNvPr id="27" name="Table 26">
            <a:extLst>
              <a:ext uri="{FF2B5EF4-FFF2-40B4-BE49-F238E27FC236}">
                <a16:creationId xmlns:a16="http://schemas.microsoft.com/office/drawing/2014/main" id="{547C97CA-ACF5-DE40-C6D2-2C32490AE5A6}"/>
              </a:ext>
            </a:extLst>
          </p:cNvPr>
          <p:cNvGraphicFramePr>
            <a:graphicFrameLocks noGrp="1"/>
          </p:cNvGraphicFramePr>
          <p:nvPr>
            <p:extLst>
              <p:ext uri="{D42A27DB-BD31-4B8C-83A1-F6EECF244321}">
                <p14:modId xmlns:p14="http://schemas.microsoft.com/office/powerpoint/2010/main" val="605764205"/>
              </p:ext>
            </p:extLst>
          </p:nvPr>
        </p:nvGraphicFramePr>
        <p:xfrm>
          <a:off x="589936" y="3060003"/>
          <a:ext cx="11031793" cy="3591518"/>
        </p:xfrm>
        <a:graphic>
          <a:graphicData uri="http://schemas.openxmlformats.org/drawingml/2006/table">
            <a:tbl>
              <a:tblPr>
                <a:tableStyleId>{5C22544A-7EE6-4342-B048-85BDC9FD1C3A}</a:tableStyleId>
              </a:tblPr>
              <a:tblGrid>
                <a:gridCol w="5515898">
                  <a:extLst>
                    <a:ext uri="{9D8B030D-6E8A-4147-A177-3AD203B41FA5}">
                      <a16:colId xmlns:a16="http://schemas.microsoft.com/office/drawing/2014/main" val="615917296"/>
                    </a:ext>
                  </a:extLst>
                </a:gridCol>
                <a:gridCol w="5515895">
                  <a:extLst>
                    <a:ext uri="{9D8B030D-6E8A-4147-A177-3AD203B41FA5}">
                      <a16:colId xmlns:a16="http://schemas.microsoft.com/office/drawing/2014/main" val="1607784448"/>
                    </a:ext>
                  </a:extLst>
                </a:gridCol>
              </a:tblGrid>
              <a:tr h="322861">
                <a:tc>
                  <a:txBody>
                    <a:bodyPr/>
                    <a:lstStyle/>
                    <a:p>
                      <a:pPr algn="ctr" fontAlgn="ctr"/>
                      <a:r>
                        <a:rPr lang="en-IN" sz="1800" b="1" u="none" strike="noStrike" dirty="0">
                          <a:solidFill>
                            <a:schemeClr val="bg1"/>
                          </a:solidFill>
                          <a:effectLst/>
                          <a:latin typeface="Calibri" panose="020F0502020204030204" pitchFamily="34" charset="0"/>
                          <a:cs typeface="Calibri" panose="020F0502020204030204" pitchFamily="34" charset="0"/>
                        </a:rPr>
                        <a:t>Tool</a:t>
                      </a:r>
                      <a:endParaRPr lang="en-IN" sz="18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3577"/>
                    </a:solidFill>
                  </a:tcPr>
                </a:tc>
                <a:tc>
                  <a:txBody>
                    <a:bodyPr/>
                    <a:lstStyle/>
                    <a:p>
                      <a:pPr algn="ctr" fontAlgn="ctr"/>
                      <a:r>
                        <a:rPr lang="en-IN" sz="1800" b="1" u="none" strike="noStrike" dirty="0">
                          <a:solidFill>
                            <a:schemeClr val="bg1"/>
                          </a:solidFill>
                          <a:effectLst/>
                          <a:latin typeface="Calibri" panose="020F0502020204030204" pitchFamily="34" charset="0"/>
                          <a:cs typeface="Calibri" panose="020F0502020204030204" pitchFamily="34" charset="0"/>
                        </a:rPr>
                        <a:t>Use</a:t>
                      </a:r>
                      <a:endParaRPr lang="en-IN" sz="1800" b="1" i="0" u="none" strike="noStrike" dirty="0">
                        <a:solidFill>
                          <a:schemeClr val="bg1"/>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3577"/>
                    </a:solidFill>
                  </a:tcPr>
                </a:tc>
                <a:extLst>
                  <a:ext uri="{0D108BD9-81ED-4DB2-BD59-A6C34878D82A}">
                    <a16:rowId xmlns:a16="http://schemas.microsoft.com/office/drawing/2014/main" val="673701808"/>
                  </a:ext>
                </a:extLst>
              </a:tr>
              <a:tr h="433370">
                <a:tc>
                  <a:txBody>
                    <a:bodyPr/>
                    <a:lstStyle/>
                    <a:p>
                      <a:pPr algn="ctr" fontAlgn="ctr"/>
                      <a:r>
                        <a:rPr lang="en-IN" sz="1800" u="none" strike="noStrike" dirty="0">
                          <a:effectLst/>
                          <a:latin typeface="Calibri" panose="020F0502020204030204" pitchFamily="34" charset="0"/>
                          <a:cs typeface="Calibri" panose="020F0502020204030204" pitchFamily="34" charset="0"/>
                          <a:hlinkClick r:id="rId2"/>
                        </a:rPr>
                        <a:t>n8n Cloud</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fontAlgn="ctr"/>
                      <a:r>
                        <a:rPr lang="en-IN" sz="1800" u="none" strike="noStrike" dirty="0">
                          <a:effectLst/>
                          <a:latin typeface="Calibri" panose="020F0502020204030204" pitchFamily="34" charset="0"/>
                          <a:cs typeface="Calibri" panose="020F0502020204030204" pitchFamily="34" charset="0"/>
                        </a:rPr>
                        <a:t>Automation</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171760748"/>
                  </a:ext>
                </a:extLst>
              </a:tr>
              <a:tr h="433370">
                <a:tc>
                  <a:txBody>
                    <a:bodyPr/>
                    <a:lstStyle/>
                    <a:p>
                      <a:pPr algn="ctr" fontAlgn="ctr"/>
                      <a:r>
                        <a:rPr lang="en-IN" sz="1800" u="none" strike="noStrike" dirty="0">
                          <a:effectLst/>
                          <a:latin typeface="Calibri" panose="020F0502020204030204" pitchFamily="34" charset="0"/>
                          <a:cs typeface="Calibri" panose="020F0502020204030204" pitchFamily="34" charset="0"/>
                        </a:rPr>
                        <a:t>Gmail</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ctr"/>
                      <a:r>
                        <a:rPr lang="en-IN" sz="1800" u="none" strike="noStrike" dirty="0">
                          <a:effectLst/>
                          <a:latin typeface="Calibri" panose="020F0502020204030204" pitchFamily="34" charset="0"/>
                          <a:cs typeface="Calibri" panose="020F0502020204030204" pitchFamily="34" charset="0"/>
                        </a:rPr>
                        <a:t>Resume Receiving</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567398492"/>
                  </a:ext>
                </a:extLst>
              </a:tr>
              <a:tr h="433370">
                <a:tc>
                  <a:txBody>
                    <a:bodyPr/>
                    <a:lstStyle/>
                    <a:p>
                      <a:pPr algn="ctr" fontAlgn="ctr"/>
                      <a:r>
                        <a:rPr lang="en-IN" sz="1800" u="none" strike="noStrike" dirty="0">
                          <a:effectLst/>
                          <a:latin typeface="Calibri" panose="020F0502020204030204" pitchFamily="34" charset="0"/>
                          <a:cs typeface="Calibri" panose="020F0502020204030204" pitchFamily="34" charset="0"/>
                        </a:rPr>
                        <a:t>PDF Extraction</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fontAlgn="ctr"/>
                      <a:r>
                        <a:rPr lang="en-IN" sz="1800" u="none" strike="noStrike" dirty="0">
                          <a:effectLst/>
                          <a:latin typeface="Calibri" panose="020F0502020204030204" pitchFamily="34" charset="0"/>
                          <a:cs typeface="Calibri" panose="020F0502020204030204" pitchFamily="34" charset="0"/>
                        </a:rPr>
                        <a:t>Extract PDF File/Details</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671446621"/>
                  </a:ext>
                </a:extLst>
              </a:tr>
              <a:tr h="433370">
                <a:tc>
                  <a:txBody>
                    <a:bodyPr/>
                    <a:lstStyle/>
                    <a:p>
                      <a:pPr algn="ctr" fontAlgn="ctr"/>
                      <a:r>
                        <a:rPr lang="en-IN" sz="1800" u="sng" strike="noStrike" dirty="0" err="1">
                          <a:effectLst/>
                          <a:latin typeface="Calibri" panose="020F0502020204030204" pitchFamily="34" charset="0"/>
                          <a:cs typeface="Calibri" panose="020F0502020204030204" pitchFamily="34" charset="0"/>
                          <a:hlinkClick r:id="rId3"/>
                        </a:rPr>
                        <a:t>Groq</a:t>
                      </a:r>
                      <a:r>
                        <a:rPr lang="en-IN" sz="1800" u="none" strike="noStrike" dirty="0">
                          <a:effectLst/>
                          <a:latin typeface="Calibri" panose="020F0502020204030204" pitchFamily="34" charset="0"/>
                          <a:cs typeface="Calibri" panose="020F0502020204030204" pitchFamily="34" charset="0"/>
                        </a:rPr>
                        <a:t> AI</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800" b="0" i="0" u="none" strike="noStrike" dirty="0">
                          <a:solidFill>
                            <a:srgbClr val="000000"/>
                          </a:solidFill>
                          <a:effectLst/>
                          <a:latin typeface="Calibri" panose="020F0502020204030204" pitchFamily="34" charset="0"/>
                          <a:cs typeface="Calibri" panose="020F0502020204030204" pitchFamily="34" charset="0"/>
                        </a:rPr>
                        <a:t>Resume Analysis</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87460181"/>
                  </a:ext>
                </a:extLst>
              </a:tr>
              <a:tr h="433370">
                <a:tc>
                  <a:txBody>
                    <a:bodyPr/>
                    <a:lstStyle/>
                    <a:p>
                      <a:pPr algn="ctr" fontAlgn="ctr"/>
                      <a:r>
                        <a:rPr lang="en-IN" sz="1800" u="none" strike="noStrike" dirty="0">
                          <a:effectLst/>
                          <a:latin typeface="Calibri" panose="020F0502020204030204" pitchFamily="34" charset="0"/>
                          <a:cs typeface="Calibri" panose="020F0502020204030204" pitchFamily="34" charset="0"/>
                        </a:rPr>
                        <a:t>Java script</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fontAlgn="ctr"/>
                      <a:r>
                        <a:rPr lang="en-IN" sz="1800" u="none" strike="noStrike" dirty="0">
                          <a:effectLst/>
                          <a:latin typeface="Calibri" panose="020F0502020204030204" pitchFamily="34" charset="0"/>
                          <a:cs typeface="Calibri" panose="020F0502020204030204" pitchFamily="34" charset="0"/>
                        </a:rPr>
                        <a:t>Data Processing</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898017743"/>
                  </a:ext>
                </a:extLst>
              </a:tr>
              <a:tr h="367269">
                <a:tc>
                  <a:txBody>
                    <a:bodyPr/>
                    <a:lstStyle/>
                    <a:p>
                      <a:pPr algn="ctr" fontAlgn="ctr"/>
                      <a:r>
                        <a:rPr lang="en-IN" sz="1800" u="none" strike="noStrike" dirty="0">
                          <a:effectLst/>
                          <a:latin typeface="Calibri" panose="020F0502020204030204" pitchFamily="34" charset="0"/>
                          <a:cs typeface="Calibri" panose="020F0502020204030204" pitchFamily="34" charset="0"/>
                        </a:rPr>
                        <a:t>Google sheet</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ctr"/>
                      <a:r>
                        <a:rPr lang="en-IN" sz="1800" u="none" strike="noStrike" dirty="0">
                          <a:effectLst/>
                          <a:latin typeface="Calibri" panose="020F0502020204030204" pitchFamily="34" charset="0"/>
                          <a:cs typeface="Calibri" panose="020F0502020204030204" pitchFamily="34" charset="0"/>
                        </a:rPr>
                        <a:t>Store Result</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828693970"/>
                  </a:ext>
                </a:extLst>
              </a:tr>
              <a:tr h="367269">
                <a:tc>
                  <a:txBody>
                    <a:bodyPr/>
                    <a:lstStyle/>
                    <a:p>
                      <a:pPr algn="ctr" fontAlgn="ctr"/>
                      <a:r>
                        <a:rPr lang="en-GB" sz="1800" b="0" i="0" u="none" strike="noStrike" dirty="0">
                          <a:solidFill>
                            <a:srgbClr val="467886"/>
                          </a:solidFill>
                          <a:effectLst/>
                          <a:latin typeface="Calibri" panose="020F0502020204030204" pitchFamily="34" charset="0"/>
                          <a:cs typeface="Calibri" panose="020F0502020204030204" pitchFamily="34" charset="0"/>
                        </a:rPr>
                        <a:t>If Node</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fontAlgn="ctr"/>
                      <a:r>
                        <a:rPr lang="en-GB" sz="1800" b="0" i="0" u="none" strike="noStrike" dirty="0">
                          <a:solidFill>
                            <a:srgbClr val="000000"/>
                          </a:solidFill>
                          <a:effectLst/>
                          <a:latin typeface="Calibri" panose="020F0502020204030204" pitchFamily="34" charset="0"/>
                          <a:cs typeface="Calibri" panose="020F0502020204030204" pitchFamily="34" charset="0"/>
                        </a:rPr>
                        <a:t>Decision Making</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255021563"/>
                  </a:ext>
                </a:extLst>
              </a:tr>
              <a:tr h="367269">
                <a:tc>
                  <a:txBody>
                    <a:bodyPr/>
                    <a:lstStyle/>
                    <a:p>
                      <a:pPr algn="ctr" fontAlgn="ctr"/>
                      <a:r>
                        <a:rPr lang="en-GB" sz="1800" b="0" i="0" u="none" strike="noStrike" dirty="0">
                          <a:solidFill>
                            <a:srgbClr val="467886"/>
                          </a:solidFill>
                          <a:effectLst/>
                          <a:latin typeface="Calibri" panose="020F0502020204030204" pitchFamily="34" charset="0"/>
                          <a:cs typeface="Calibri" panose="020F0502020204030204" pitchFamily="34" charset="0"/>
                        </a:rPr>
                        <a:t>Gmail</a:t>
                      </a:r>
                      <a:endParaRPr lang="en-IN" sz="1800" b="0" i="0" u="none" strike="noStrike" dirty="0">
                        <a:solidFill>
                          <a:srgbClr val="467886"/>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fontAlgn="ctr"/>
                      <a:r>
                        <a:rPr lang="en-GB" sz="1800" b="0" i="0" u="none" strike="noStrike" dirty="0">
                          <a:solidFill>
                            <a:srgbClr val="000000"/>
                          </a:solidFill>
                          <a:effectLst/>
                          <a:latin typeface="Calibri" panose="020F0502020204030204" pitchFamily="34" charset="0"/>
                          <a:cs typeface="Calibri" panose="020F0502020204030204" pitchFamily="34" charset="0"/>
                        </a:rPr>
                        <a:t>Auto Response</a:t>
                      </a:r>
                      <a:endParaRPr lang="en-IN" sz="18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619678129"/>
                  </a:ext>
                </a:extLst>
              </a:tr>
            </a:tbl>
          </a:graphicData>
        </a:graphic>
      </p:graphicFrame>
      <p:sp>
        <p:nvSpPr>
          <p:cNvPr id="3" name="TextBox 2">
            <a:extLst>
              <a:ext uri="{FF2B5EF4-FFF2-40B4-BE49-F238E27FC236}">
                <a16:creationId xmlns:a16="http://schemas.microsoft.com/office/drawing/2014/main" id="{724E3618-C6FA-C827-4E30-B5EEDD9D26C2}"/>
              </a:ext>
            </a:extLst>
          </p:cNvPr>
          <p:cNvSpPr txBox="1"/>
          <p:nvPr/>
        </p:nvSpPr>
        <p:spPr>
          <a:xfrm>
            <a:off x="580103" y="1129425"/>
            <a:ext cx="11041626" cy="1754326"/>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project leverages n8n as the workflow automation platform to orchestrate the entire recruitment process. Gmail is used to collect candidate resumes, while PDF extraction tools convert resume content into readable text. </a:t>
            </a:r>
            <a:r>
              <a:rPr lang="en-GB" dirty="0" err="1">
                <a:latin typeface="Calibri" panose="020F0502020204030204" pitchFamily="34" charset="0"/>
                <a:cs typeface="Calibri" panose="020F0502020204030204" pitchFamily="34" charset="0"/>
              </a:rPr>
              <a:t>Groq</a:t>
            </a:r>
            <a:r>
              <a:rPr lang="en-GB" dirty="0">
                <a:latin typeface="Calibri" panose="020F0502020204030204" pitchFamily="34" charset="0"/>
                <a:cs typeface="Calibri" panose="020F0502020204030204" pitchFamily="34" charset="0"/>
              </a:rPr>
              <a:t> AI analyses candidate profiles based on skills, experience, and job requirements. JavaScript processes AI-generated results and applies business logic for scoring and shortlisting. Finally, Google Sheets serves as a centralized repository for storing candidate information, tracking evaluations, and supporting recruitment decisions. Together, these technologies create a streamlined and fully automated resume screening solution.</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8392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AI Resume Evaluation Logic</a:t>
            </a:r>
          </a:p>
        </p:txBody>
      </p:sp>
      <p:sp>
        <p:nvSpPr>
          <p:cNvPr id="4" name="TextBox 3">
            <a:extLst>
              <a:ext uri="{FF2B5EF4-FFF2-40B4-BE49-F238E27FC236}">
                <a16:creationId xmlns:a16="http://schemas.microsoft.com/office/drawing/2014/main" id="{7BD9BE93-C4F6-D76F-052F-0E6844E5D06B}"/>
              </a:ext>
            </a:extLst>
          </p:cNvPr>
          <p:cNvSpPr txBox="1"/>
          <p:nvPr/>
        </p:nvSpPr>
        <p:spPr>
          <a:xfrm>
            <a:off x="589936" y="1209733"/>
            <a:ext cx="11031793" cy="369332"/>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AI Evaluation Criteria</a:t>
            </a:r>
          </a:p>
        </p:txBody>
      </p:sp>
      <p:sp>
        <p:nvSpPr>
          <p:cNvPr id="3" name="TextBox 2">
            <a:extLst>
              <a:ext uri="{FF2B5EF4-FFF2-40B4-BE49-F238E27FC236}">
                <a16:creationId xmlns:a16="http://schemas.microsoft.com/office/drawing/2014/main" id="{5A2FD4AE-F59B-86EC-CADB-99E35B53D9BE}"/>
              </a:ext>
            </a:extLst>
          </p:cNvPr>
          <p:cNvSpPr txBox="1"/>
          <p:nvPr/>
        </p:nvSpPr>
        <p:spPr>
          <a:xfrm>
            <a:off x="855405" y="1859339"/>
            <a:ext cx="5832987" cy="4801314"/>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Skills Match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Python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SQL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Power BI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Machine Learning </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Experience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Years of Experience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Relevant Domain Experience</a:t>
            </a:r>
          </a:p>
          <a:p>
            <a:r>
              <a:rPr lang="en-GB" dirty="0">
                <a:latin typeface="Calibri" panose="020F0502020204030204" pitchFamily="34" charset="0"/>
                <a:cs typeface="Calibri" panose="020F0502020204030204" pitchFamily="34" charset="0"/>
              </a:rPr>
              <a:t> </a:t>
            </a:r>
          </a:p>
          <a:p>
            <a:r>
              <a:rPr lang="en-GB" b="1" dirty="0">
                <a:latin typeface="Calibri" panose="020F0502020204030204" pitchFamily="34" charset="0"/>
                <a:cs typeface="Calibri" panose="020F0502020204030204" pitchFamily="34" charset="0"/>
              </a:rPr>
              <a:t>Education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Degree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Certifications</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Overall Fit :</a:t>
            </a:r>
          </a:p>
          <a:p>
            <a:pPr marL="285750" indent="-285750">
              <a:buFont typeface="Wingdings" panose="05000000000000000000" pitchFamily="2" charset="2"/>
              <a:buChar char="v"/>
            </a:pPr>
            <a:r>
              <a:rPr lang="en-GB" dirty="0">
                <a:latin typeface="Calibri" panose="020F0502020204030204" pitchFamily="34" charset="0"/>
                <a:cs typeface="Calibri" panose="020F0502020204030204" pitchFamily="34" charset="0"/>
              </a:rPr>
              <a:t>Final Score:</a:t>
            </a:r>
            <a:br>
              <a:rPr lang="en-GB" dirty="0">
                <a:latin typeface="Calibri" panose="020F0502020204030204" pitchFamily="34" charset="0"/>
                <a:cs typeface="Calibri" panose="020F0502020204030204" pitchFamily="34" charset="0"/>
              </a:rPr>
            </a:br>
            <a:r>
              <a:rPr lang="en-GB" dirty="0">
                <a:latin typeface="Calibri" panose="020F0502020204030204" pitchFamily="34" charset="0"/>
                <a:cs typeface="Calibri" panose="020F0502020204030204" pitchFamily="34" charset="0"/>
              </a:rPr>
              <a:t>0 – 100</a:t>
            </a:r>
          </a:p>
        </p:txBody>
      </p:sp>
    </p:spTree>
    <p:extLst>
      <p:ext uri="{BB962C8B-B14F-4D97-AF65-F5344CB8AC3E}">
        <p14:creationId xmlns:p14="http://schemas.microsoft.com/office/powerpoint/2010/main" val="2667080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Automated Candidate Shortlisted</a:t>
            </a:r>
          </a:p>
        </p:txBody>
      </p:sp>
      <p:sp>
        <p:nvSpPr>
          <p:cNvPr id="3" name="TextBox 2">
            <a:extLst>
              <a:ext uri="{FF2B5EF4-FFF2-40B4-BE49-F238E27FC236}">
                <a16:creationId xmlns:a16="http://schemas.microsoft.com/office/drawing/2014/main" id="{0E52BE20-0013-1F55-30FA-366F41C4F4F3}"/>
              </a:ext>
            </a:extLst>
          </p:cNvPr>
          <p:cNvSpPr txBox="1"/>
          <p:nvPr/>
        </p:nvSpPr>
        <p:spPr>
          <a:xfrm>
            <a:off x="589935" y="1179560"/>
            <a:ext cx="6098458" cy="369332"/>
          </a:xfrm>
          <a:prstGeom prst="rect">
            <a:avLst/>
          </a:prstGeom>
          <a:noFill/>
        </p:spPr>
        <p:txBody>
          <a:bodyPr wrap="square">
            <a:spAutoFit/>
          </a:bodyPr>
          <a:lstStyle/>
          <a:p>
            <a:r>
              <a:rPr lang="en-IN" dirty="0">
                <a:latin typeface="Calibri" panose="020F0502020204030204" pitchFamily="34" charset="0"/>
                <a:cs typeface="Calibri" panose="020F0502020204030204" pitchFamily="34" charset="0"/>
              </a:rPr>
              <a:t>Candidate Decision Logic</a:t>
            </a:r>
          </a:p>
        </p:txBody>
      </p:sp>
      <p:sp>
        <p:nvSpPr>
          <p:cNvPr id="7" name="TextBox 6">
            <a:extLst>
              <a:ext uri="{FF2B5EF4-FFF2-40B4-BE49-F238E27FC236}">
                <a16:creationId xmlns:a16="http://schemas.microsoft.com/office/drawing/2014/main" id="{FC9A601E-4AF1-967F-7716-50F8576D42DE}"/>
              </a:ext>
            </a:extLst>
          </p:cNvPr>
          <p:cNvSpPr txBox="1"/>
          <p:nvPr/>
        </p:nvSpPr>
        <p:spPr>
          <a:xfrm>
            <a:off x="589934" y="2413337"/>
            <a:ext cx="4527755" cy="2031325"/>
          </a:xfrm>
          <a:prstGeom prst="rect">
            <a:avLst/>
          </a:prstGeom>
          <a:noFill/>
        </p:spPr>
        <p:txBody>
          <a:bodyPr wrap="square">
            <a:spAutoFit/>
          </a:bodyPr>
          <a:lstStyle/>
          <a:p>
            <a:r>
              <a:rPr lang="en-GB" b="1" dirty="0"/>
              <a:t>IF Score &gt; 80</a:t>
            </a:r>
          </a:p>
          <a:p>
            <a:endParaRPr lang="en-GB" b="1" dirty="0"/>
          </a:p>
          <a:p>
            <a:r>
              <a:rPr lang="en-GB" dirty="0"/>
              <a:t>Candidate Status:</a:t>
            </a:r>
          </a:p>
          <a:p>
            <a:r>
              <a:rPr lang="en-GB" dirty="0"/>
              <a:t>    ✔ Shortlisted</a:t>
            </a:r>
          </a:p>
          <a:p>
            <a:endParaRPr lang="en-GB" dirty="0"/>
          </a:p>
          <a:p>
            <a:r>
              <a:rPr lang="en-GB" dirty="0"/>
              <a:t>Action:</a:t>
            </a:r>
          </a:p>
          <a:p>
            <a:r>
              <a:rPr lang="en-GB" dirty="0"/>
              <a:t>    ✔ Save in Google Sheet and Send Email</a:t>
            </a:r>
          </a:p>
        </p:txBody>
      </p:sp>
      <p:sp>
        <p:nvSpPr>
          <p:cNvPr id="9" name="TextBox 8">
            <a:extLst>
              <a:ext uri="{FF2B5EF4-FFF2-40B4-BE49-F238E27FC236}">
                <a16:creationId xmlns:a16="http://schemas.microsoft.com/office/drawing/2014/main" id="{47B994E0-BCC3-4C2A-6A84-369A5B452DF5}"/>
              </a:ext>
            </a:extLst>
          </p:cNvPr>
          <p:cNvSpPr txBox="1"/>
          <p:nvPr/>
        </p:nvSpPr>
        <p:spPr>
          <a:xfrm>
            <a:off x="6105832" y="2413337"/>
            <a:ext cx="5496233" cy="2031325"/>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IF Score ≤ 80</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Candidate Status:</a:t>
            </a:r>
          </a:p>
          <a:p>
            <a:r>
              <a:rPr lang="en-GB" dirty="0">
                <a:latin typeface="Calibri" panose="020F0502020204030204" pitchFamily="34" charset="0"/>
                <a:cs typeface="Calibri" panose="020F0502020204030204" pitchFamily="34" charset="0"/>
              </a:rPr>
              <a:t>        Pending Review</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Action:</a:t>
            </a:r>
          </a:p>
          <a:p>
            <a:r>
              <a:rPr lang="en-GB" dirty="0">
                <a:latin typeface="Calibri" panose="020F0502020204030204" pitchFamily="34" charset="0"/>
                <a:cs typeface="Calibri" panose="020F0502020204030204" pitchFamily="34" charset="0"/>
              </a:rPr>
              <a:t>    ✔ Save in Google Sheet but not send email </a:t>
            </a:r>
          </a:p>
        </p:txBody>
      </p:sp>
    </p:spTree>
    <p:extLst>
      <p:ext uri="{BB962C8B-B14F-4D97-AF65-F5344CB8AC3E}">
        <p14:creationId xmlns:p14="http://schemas.microsoft.com/office/powerpoint/2010/main" val="651741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Sample Output</a:t>
            </a:r>
          </a:p>
        </p:txBody>
      </p:sp>
      <p:sp>
        <p:nvSpPr>
          <p:cNvPr id="4" name="TextBox 3">
            <a:extLst>
              <a:ext uri="{FF2B5EF4-FFF2-40B4-BE49-F238E27FC236}">
                <a16:creationId xmlns:a16="http://schemas.microsoft.com/office/drawing/2014/main" id="{7BD9BE93-C4F6-D76F-052F-0E6844E5D06B}"/>
              </a:ext>
            </a:extLst>
          </p:cNvPr>
          <p:cNvSpPr txBox="1"/>
          <p:nvPr/>
        </p:nvSpPr>
        <p:spPr>
          <a:xfrm>
            <a:off x="570270" y="1460456"/>
            <a:ext cx="11031793"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final output includes candidate details such as Name, Skills, Experience, Score, and Recommendation. These results are automatically recorded in Google Sheets, providing recruiters with a structured database for candidate comparison and shortlisting.</a:t>
            </a:r>
            <a:endParaRPr lang="en-IN"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C1210DA9-1D64-8B88-71D0-930CC6ED6EFF}"/>
              </a:ext>
            </a:extLst>
          </p:cNvPr>
          <p:cNvGraphicFramePr>
            <a:graphicFrameLocks noGrp="1"/>
          </p:cNvGraphicFramePr>
          <p:nvPr>
            <p:extLst>
              <p:ext uri="{D42A27DB-BD31-4B8C-83A1-F6EECF244321}">
                <p14:modId xmlns:p14="http://schemas.microsoft.com/office/powerpoint/2010/main" val="4077428192"/>
              </p:ext>
            </p:extLst>
          </p:nvPr>
        </p:nvGraphicFramePr>
        <p:xfrm>
          <a:off x="570270" y="3166140"/>
          <a:ext cx="11031790" cy="2629976"/>
        </p:xfrm>
        <a:graphic>
          <a:graphicData uri="http://schemas.openxmlformats.org/drawingml/2006/table">
            <a:tbl>
              <a:tblPr/>
              <a:tblGrid>
                <a:gridCol w="1103179">
                  <a:extLst>
                    <a:ext uri="{9D8B030D-6E8A-4147-A177-3AD203B41FA5}">
                      <a16:colId xmlns:a16="http://schemas.microsoft.com/office/drawing/2014/main" val="2985500263"/>
                    </a:ext>
                  </a:extLst>
                </a:gridCol>
                <a:gridCol w="1103179">
                  <a:extLst>
                    <a:ext uri="{9D8B030D-6E8A-4147-A177-3AD203B41FA5}">
                      <a16:colId xmlns:a16="http://schemas.microsoft.com/office/drawing/2014/main" val="936738546"/>
                    </a:ext>
                  </a:extLst>
                </a:gridCol>
                <a:gridCol w="1103179">
                  <a:extLst>
                    <a:ext uri="{9D8B030D-6E8A-4147-A177-3AD203B41FA5}">
                      <a16:colId xmlns:a16="http://schemas.microsoft.com/office/drawing/2014/main" val="2685225790"/>
                    </a:ext>
                  </a:extLst>
                </a:gridCol>
                <a:gridCol w="1103179">
                  <a:extLst>
                    <a:ext uri="{9D8B030D-6E8A-4147-A177-3AD203B41FA5}">
                      <a16:colId xmlns:a16="http://schemas.microsoft.com/office/drawing/2014/main" val="3571971524"/>
                    </a:ext>
                  </a:extLst>
                </a:gridCol>
                <a:gridCol w="1103179">
                  <a:extLst>
                    <a:ext uri="{9D8B030D-6E8A-4147-A177-3AD203B41FA5}">
                      <a16:colId xmlns:a16="http://schemas.microsoft.com/office/drawing/2014/main" val="2316521103"/>
                    </a:ext>
                  </a:extLst>
                </a:gridCol>
                <a:gridCol w="1103179">
                  <a:extLst>
                    <a:ext uri="{9D8B030D-6E8A-4147-A177-3AD203B41FA5}">
                      <a16:colId xmlns:a16="http://schemas.microsoft.com/office/drawing/2014/main" val="2164876729"/>
                    </a:ext>
                  </a:extLst>
                </a:gridCol>
                <a:gridCol w="1103179">
                  <a:extLst>
                    <a:ext uri="{9D8B030D-6E8A-4147-A177-3AD203B41FA5}">
                      <a16:colId xmlns:a16="http://schemas.microsoft.com/office/drawing/2014/main" val="1818768262"/>
                    </a:ext>
                  </a:extLst>
                </a:gridCol>
                <a:gridCol w="1103179">
                  <a:extLst>
                    <a:ext uri="{9D8B030D-6E8A-4147-A177-3AD203B41FA5}">
                      <a16:colId xmlns:a16="http://schemas.microsoft.com/office/drawing/2014/main" val="2443850364"/>
                    </a:ext>
                  </a:extLst>
                </a:gridCol>
                <a:gridCol w="1103179">
                  <a:extLst>
                    <a:ext uri="{9D8B030D-6E8A-4147-A177-3AD203B41FA5}">
                      <a16:colId xmlns:a16="http://schemas.microsoft.com/office/drawing/2014/main" val="1035883852"/>
                    </a:ext>
                  </a:extLst>
                </a:gridCol>
                <a:gridCol w="1103179">
                  <a:extLst>
                    <a:ext uri="{9D8B030D-6E8A-4147-A177-3AD203B41FA5}">
                      <a16:colId xmlns:a16="http://schemas.microsoft.com/office/drawing/2014/main" val="136364709"/>
                    </a:ext>
                  </a:extLst>
                </a:gridCol>
              </a:tblGrid>
              <a:tr h="925890">
                <a:tc>
                  <a:txBody>
                    <a:bodyPr/>
                    <a:lstStyle/>
                    <a:p>
                      <a:pPr algn="ctr" rtl="0" fontAlgn="b">
                        <a:lnSpc>
                          <a:spcPct val="150000"/>
                        </a:lnSpc>
                      </a:pPr>
                      <a:r>
                        <a:rPr lang="en-IN" sz="1500" b="1" dirty="0">
                          <a:solidFill>
                            <a:schemeClr val="bg1"/>
                          </a:solidFill>
                          <a:effectLst/>
                        </a:rPr>
                        <a:t>Name</a:t>
                      </a:r>
                    </a:p>
                  </a:txBody>
                  <a:tcPr marL="16140" marR="16140" marT="10760" marB="1076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a:solidFill>
                            <a:schemeClr val="bg1"/>
                          </a:solidFill>
                          <a:effectLst/>
                        </a:rPr>
                        <a:t>Email</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a:solidFill>
                            <a:schemeClr val="bg1"/>
                          </a:solidFill>
                          <a:effectLst/>
                        </a:rPr>
                        <a:t>Phone</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a:solidFill>
                            <a:schemeClr val="bg1"/>
                          </a:solidFill>
                          <a:effectLst/>
                        </a:rPr>
                        <a:t>Skills</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dirty="0">
                          <a:solidFill>
                            <a:schemeClr val="bg1"/>
                          </a:solidFill>
                          <a:effectLst/>
                        </a:rPr>
                        <a:t>Experience</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a:solidFill>
                            <a:schemeClr val="bg1"/>
                          </a:solidFill>
                          <a:effectLst/>
                        </a:rPr>
                        <a:t>Matching Skills</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a:solidFill>
                            <a:schemeClr val="bg1"/>
                          </a:solidFill>
                          <a:effectLst/>
                        </a:rPr>
                        <a:t>Missing Skills</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dirty="0">
                          <a:solidFill>
                            <a:schemeClr val="bg1"/>
                          </a:solidFill>
                          <a:effectLst/>
                        </a:rPr>
                        <a:t>Score</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b="1">
                          <a:solidFill>
                            <a:schemeClr val="bg1"/>
                          </a:solidFill>
                          <a:effectLst/>
                        </a:rPr>
                        <a:t>Recommendation</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tc>
                  <a:txBody>
                    <a:bodyPr/>
                    <a:lstStyle/>
                    <a:p>
                      <a:pPr algn="ctr" rtl="0" fontAlgn="b">
                        <a:lnSpc>
                          <a:spcPct val="150000"/>
                        </a:lnSpc>
                      </a:pPr>
                      <a:r>
                        <a:rPr lang="en-IN" sz="1500" dirty="0">
                          <a:solidFill>
                            <a:schemeClr val="bg1"/>
                          </a:solidFill>
                          <a:effectLst/>
                        </a:rPr>
                        <a:t>Rank</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23577"/>
                    </a:solidFill>
                  </a:tcPr>
                </a:tc>
                <a:extLst>
                  <a:ext uri="{0D108BD9-81ED-4DB2-BD59-A6C34878D82A}">
                    <a16:rowId xmlns:a16="http://schemas.microsoft.com/office/drawing/2014/main" val="3186239644"/>
                  </a:ext>
                </a:extLst>
              </a:tr>
              <a:tr h="1704086">
                <a:tc>
                  <a:txBody>
                    <a:bodyPr/>
                    <a:lstStyle/>
                    <a:p>
                      <a:pPr algn="ctr" rtl="0" fontAlgn="b"/>
                      <a:r>
                        <a:rPr lang="en-IN" sz="1500">
                          <a:effectLst/>
                        </a:rPr>
                        <a:t>Rani</a:t>
                      </a:r>
                    </a:p>
                  </a:txBody>
                  <a:tcPr marL="16140" marR="16140" marT="10760" marB="10760"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a:effectLst/>
                        </a:rPr>
                        <a:t>test@gmail.com</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a:effectLst/>
                        </a:rPr>
                        <a:t>9999999999</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a:effectLst/>
                        </a:rPr>
                        <a:t>SQL, Power BI, Excel, Python, SSIS, DAX, SQL Server, ETL</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dirty="0">
                          <a:effectLst/>
                        </a:rPr>
                        <a:t>3.6 Years</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a:effectLst/>
                        </a:rPr>
                        <a:t>SQL, Power BI, Excel</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a:effectLst/>
                        </a:rPr>
                        <a:t>None</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a:effectLst/>
                        </a:rPr>
                        <a:t>95</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a:effectLst/>
                        </a:rPr>
                        <a:t>Strong Match</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tc>
                  <a:txBody>
                    <a:bodyPr/>
                    <a:lstStyle/>
                    <a:p>
                      <a:pPr algn="ctr" rtl="0" fontAlgn="b"/>
                      <a:r>
                        <a:rPr lang="en-IN" sz="1500" dirty="0">
                          <a:effectLst/>
                        </a:rPr>
                        <a:t>A</a:t>
                      </a:r>
                    </a:p>
                  </a:txBody>
                  <a:tcPr marL="16140" marR="16140" marT="10760" marB="1076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944517327"/>
                  </a:ext>
                </a:extLst>
              </a:tr>
            </a:tbl>
          </a:graphicData>
        </a:graphic>
      </p:graphicFrame>
    </p:spTree>
    <p:extLst>
      <p:ext uri="{BB962C8B-B14F-4D97-AF65-F5344CB8AC3E}">
        <p14:creationId xmlns:p14="http://schemas.microsoft.com/office/powerpoint/2010/main" val="4201818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Automated Email Notification</a:t>
            </a:r>
          </a:p>
        </p:txBody>
      </p:sp>
      <p:sp>
        <p:nvSpPr>
          <p:cNvPr id="4" name="TextBox 3">
            <a:extLst>
              <a:ext uri="{FF2B5EF4-FFF2-40B4-BE49-F238E27FC236}">
                <a16:creationId xmlns:a16="http://schemas.microsoft.com/office/drawing/2014/main" id="{7BD9BE93-C4F6-D76F-052F-0E6844E5D06B}"/>
              </a:ext>
            </a:extLst>
          </p:cNvPr>
          <p:cNvSpPr txBox="1"/>
          <p:nvPr/>
        </p:nvSpPr>
        <p:spPr>
          <a:xfrm>
            <a:off x="570270" y="1460456"/>
            <a:ext cx="11031793" cy="369332"/>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Auto Email Sent to Shortlisted Candidates</a:t>
            </a:r>
            <a:endParaRPr lang="en-IN"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5B8D098-18D2-FAC8-0474-72DEB6E551F0}"/>
              </a:ext>
            </a:extLst>
          </p:cNvPr>
          <p:cNvSpPr txBox="1"/>
          <p:nvPr/>
        </p:nvSpPr>
        <p:spPr>
          <a:xfrm>
            <a:off x="1013951" y="2095315"/>
            <a:ext cx="10607778" cy="4247317"/>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Subject : </a:t>
            </a:r>
            <a:r>
              <a:rPr lang="en-GB" dirty="0">
                <a:latin typeface="Calibri" panose="020F0502020204030204" pitchFamily="34" charset="0"/>
                <a:cs typeface="Calibri" panose="020F0502020204030204" pitchFamily="34" charset="0"/>
              </a:rPr>
              <a:t>Application Shortlisted</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Sample Message :</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Dear Candidate,</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Congratulations!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Based on our AI-powered resume screening process, your profile has been shortlisted for the next stage of recruitment.</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Our team will contact you shortly.</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Regards,</a:t>
            </a:r>
          </a:p>
          <a:p>
            <a:r>
              <a:rPr lang="en-GB" dirty="0">
                <a:latin typeface="Calibri" panose="020F0502020204030204" pitchFamily="34" charset="0"/>
                <a:cs typeface="Calibri" panose="020F0502020204030204" pitchFamily="34" charset="0"/>
              </a:rPr>
              <a:t>Recruitment Team</a:t>
            </a:r>
          </a:p>
        </p:txBody>
      </p:sp>
    </p:spTree>
    <p:extLst>
      <p:ext uri="{BB962C8B-B14F-4D97-AF65-F5344CB8AC3E}">
        <p14:creationId xmlns:p14="http://schemas.microsoft.com/office/powerpoint/2010/main" val="1054117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Business Benefits</a:t>
            </a:r>
          </a:p>
        </p:txBody>
      </p:sp>
      <p:sp>
        <p:nvSpPr>
          <p:cNvPr id="3" name="TextBox 2">
            <a:extLst>
              <a:ext uri="{FF2B5EF4-FFF2-40B4-BE49-F238E27FC236}">
                <a16:creationId xmlns:a16="http://schemas.microsoft.com/office/drawing/2014/main" id="{BC2D8878-9FD1-91EC-2B17-53CDDE3CB67C}"/>
              </a:ext>
            </a:extLst>
          </p:cNvPr>
          <p:cNvSpPr txBox="1"/>
          <p:nvPr/>
        </p:nvSpPr>
        <p:spPr>
          <a:xfrm>
            <a:off x="836971" y="1997839"/>
            <a:ext cx="6098458" cy="397031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Faster Hiring :</a:t>
            </a:r>
          </a:p>
          <a:p>
            <a:r>
              <a:rPr lang="en-GB" dirty="0">
                <a:latin typeface="Calibri" panose="020F0502020204030204" pitchFamily="34" charset="0"/>
                <a:cs typeface="Calibri" panose="020F0502020204030204" pitchFamily="34" charset="0"/>
              </a:rPr>
              <a:t>Reduces screening time by up to 80%.</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Improved Efficiency :</a:t>
            </a:r>
          </a:p>
          <a:p>
            <a:r>
              <a:rPr lang="en-GB" dirty="0">
                <a:latin typeface="Calibri" panose="020F0502020204030204" pitchFamily="34" charset="0"/>
                <a:cs typeface="Calibri" panose="020F0502020204030204" pitchFamily="34" charset="0"/>
              </a:rPr>
              <a:t>Automates repetitive recruitment tasks.</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Better Candidate Experience :</a:t>
            </a:r>
          </a:p>
          <a:p>
            <a:r>
              <a:rPr lang="en-GB" dirty="0">
                <a:latin typeface="Calibri" panose="020F0502020204030204" pitchFamily="34" charset="0"/>
                <a:cs typeface="Calibri" panose="020F0502020204030204" pitchFamily="34" charset="0"/>
              </a:rPr>
              <a:t>Instant communication.</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Scalability :</a:t>
            </a:r>
          </a:p>
          <a:p>
            <a:r>
              <a:rPr lang="en-GB" dirty="0">
                <a:latin typeface="Calibri" panose="020F0502020204030204" pitchFamily="34" charset="0"/>
                <a:cs typeface="Calibri" panose="020F0502020204030204" pitchFamily="34" charset="0"/>
              </a:rPr>
              <a:t>Can process thousands of resumes.</a:t>
            </a:r>
          </a:p>
          <a:p>
            <a:endParaRPr lang="en-GB" dirty="0">
              <a:latin typeface="Calibri" panose="020F0502020204030204" pitchFamily="34" charset="0"/>
              <a:cs typeface="Calibri" panose="020F0502020204030204" pitchFamily="34" charset="0"/>
            </a:endParaRPr>
          </a:p>
          <a:p>
            <a:r>
              <a:rPr lang="en-GB" b="1" dirty="0">
                <a:latin typeface="Calibri" panose="020F0502020204030204" pitchFamily="34" charset="0"/>
                <a:cs typeface="Calibri" panose="020F0502020204030204" pitchFamily="34" charset="0"/>
              </a:rPr>
              <a:t>Data-Driven Decisions :</a:t>
            </a:r>
          </a:p>
          <a:p>
            <a:r>
              <a:rPr lang="en-GB" dirty="0">
                <a:latin typeface="Calibri" panose="020F0502020204030204" pitchFamily="34" charset="0"/>
                <a:cs typeface="Calibri" panose="020F0502020204030204" pitchFamily="34" charset="0"/>
              </a:rPr>
              <a:t>Consistent and objective evaluation.</a:t>
            </a:r>
          </a:p>
        </p:txBody>
      </p:sp>
    </p:spTree>
    <p:extLst>
      <p:ext uri="{BB962C8B-B14F-4D97-AF65-F5344CB8AC3E}">
        <p14:creationId xmlns:p14="http://schemas.microsoft.com/office/powerpoint/2010/main" val="2382421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9935" y="368398"/>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Conclusion</a:t>
            </a:r>
          </a:p>
        </p:txBody>
      </p:sp>
      <p:sp>
        <p:nvSpPr>
          <p:cNvPr id="4" name="TextBox 3">
            <a:extLst>
              <a:ext uri="{FF2B5EF4-FFF2-40B4-BE49-F238E27FC236}">
                <a16:creationId xmlns:a16="http://schemas.microsoft.com/office/drawing/2014/main" id="{7BD9BE93-C4F6-D76F-052F-0E6844E5D06B}"/>
              </a:ext>
            </a:extLst>
          </p:cNvPr>
          <p:cNvSpPr txBox="1"/>
          <p:nvPr/>
        </p:nvSpPr>
        <p:spPr>
          <a:xfrm>
            <a:off x="570270" y="1460456"/>
            <a:ext cx="11031793"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AI-Powered Resume Screener demonstrates how artificial intelligence and workflow automation can transform traditional recruitment processes. By automating resume analysis and candidate evaluation, organizations can improve efficiency, reduce hiring time, and make more data-driven recruitment decisions.</a:t>
            </a:r>
            <a:endParaRPr lang="en-IN"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DCDCFD6-06FC-C681-C1C8-CBD4C5A1195B}"/>
              </a:ext>
            </a:extLst>
          </p:cNvPr>
          <p:cNvSpPr txBox="1"/>
          <p:nvPr/>
        </p:nvSpPr>
        <p:spPr>
          <a:xfrm>
            <a:off x="1072945" y="2702542"/>
            <a:ext cx="6098458" cy="3139321"/>
          </a:xfrm>
          <a:prstGeom prst="rect">
            <a:avLst/>
          </a:prstGeom>
          <a:noFill/>
        </p:spPr>
        <p:txBody>
          <a:bodyPr wrap="square">
            <a:spAutoFit/>
          </a:bodyPr>
          <a:lstStyle/>
          <a:p>
            <a:r>
              <a:rPr lang="en-IN" b="1" dirty="0">
                <a:latin typeface="Calibri" panose="020F0502020204030204" pitchFamily="34" charset="0"/>
                <a:cs typeface="Calibri" panose="020F0502020204030204" pitchFamily="34" charset="0"/>
              </a:rPr>
              <a:t>Achievements :</a:t>
            </a:r>
          </a:p>
          <a:p>
            <a:endParaRPr lang="en-IN" b="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 Automated Resume Processing</a:t>
            </a:r>
          </a:p>
          <a:p>
            <a:r>
              <a:rPr lang="en-IN" dirty="0">
                <a:latin typeface="Calibri" panose="020F0502020204030204" pitchFamily="34" charset="0"/>
                <a:cs typeface="Calibri" panose="020F0502020204030204" pitchFamily="34" charset="0"/>
              </a:rPr>
              <a:t>    ✔ AI-Based Candidate Evaluation</a:t>
            </a:r>
          </a:p>
          <a:p>
            <a:r>
              <a:rPr lang="en-IN" dirty="0">
                <a:latin typeface="Calibri" panose="020F0502020204030204" pitchFamily="34" charset="0"/>
                <a:cs typeface="Calibri" panose="020F0502020204030204" pitchFamily="34" charset="0"/>
              </a:rPr>
              <a:t>    ✔ Smart Shortlisting</a:t>
            </a:r>
          </a:p>
          <a:p>
            <a:r>
              <a:rPr lang="en-IN" dirty="0">
                <a:latin typeface="Calibri" panose="020F0502020204030204" pitchFamily="34" charset="0"/>
                <a:cs typeface="Calibri" panose="020F0502020204030204" pitchFamily="34" charset="0"/>
              </a:rPr>
              <a:t>    ✔ Automated Communication</a:t>
            </a:r>
          </a:p>
          <a:p>
            <a:r>
              <a:rPr lang="en-IN" dirty="0">
                <a:latin typeface="Calibri" panose="020F0502020204030204" pitchFamily="34" charset="0"/>
                <a:cs typeface="Calibri" panose="020F0502020204030204" pitchFamily="34" charset="0"/>
              </a:rPr>
              <a:t>    ✔ Centralized Candidate Database</a:t>
            </a:r>
          </a:p>
          <a:p>
            <a:endParaRPr lang="en-IN" dirty="0">
              <a:latin typeface="Calibri" panose="020F0502020204030204" pitchFamily="34" charset="0"/>
              <a:cs typeface="Calibri" panose="020F0502020204030204" pitchFamily="34" charset="0"/>
            </a:endParaRPr>
          </a:p>
          <a:p>
            <a:r>
              <a:rPr lang="en-IN" b="1" dirty="0">
                <a:latin typeface="Calibri" panose="020F0502020204030204" pitchFamily="34" charset="0"/>
                <a:cs typeface="Calibri" panose="020F0502020204030204" pitchFamily="34" charset="0"/>
              </a:rPr>
              <a:t>Outcome :</a:t>
            </a:r>
          </a:p>
          <a:p>
            <a:endParaRPr lang="en-IN" b="1" dirty="0">
              <a:latin typeface="Calibri" panose="020F0502020204030204" pitchFamily="34" charset="0"/>
              <a:cs typeface="Calibri" panose="020F0502020204030204" pitchFamily="34" charset="0"/>
            </a:endParaRPr>
          </a:p>
          <a:p>
            <a:r>
              <a:rPr lang="en-IN" dirty="0">
                <a:latin typeface="Calibri" panose="020F0502020204030204" pitchFamily="34" charset="0"/>
                <a:cs typeface="Calibri" panose="020F0502020204030204" pitchFamily="34" charset="0"/>
              </a:rPr>
              <a:t>    Faster, smarter, and more efficient hiring process.</a:t>
            </a:r>
          </a:p>
        </p:txBody>
      </p:sp>
    </p:spTree>
    <p:extLst>
      <p:ext uri="{BB962C8B-B14F-4D97-AF65-F5344CB8AC3E}">
        <p14:creationId xmlns:p14="http://schemas.microsoft.com/office/powerpoint/2010/main" val="4260483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B6B7E0-54D1-3A5D-4870-5780EB6DE81A}"/>
              </a:ext>
            </a:extLst>
          </p:cNvPr>
          <p:cNvSpPr txBox="1"/>
          <p:nvPr/>
        </p:nvSpPr>
        <p:spPr>
          <a:xfrm>
            <a:off x="580103" y="2844225"/>
            <a:ext cx="11031794" cy="584775"/>
          </a:xfrm>
          <a:prstGeom prst="rect">
            <a:avLst/>
          </a:prstGeom>
          <a:solidFill>
            <a:srgbClr val="223577"/>
          </a:solidFill>
        </p:spPr>
        <p:txBody>
          <a:bodyPr wrap="square">
            <a:spAutoFit/>
          </a:bodyPr>
          <a:lstStyle/>
          <a:p>
            <a:pPr algn="ctr"/>
            <a:r>
              <a:rPr lang="en-IN" sz="3200" dirty="0">
                <a:solidFill>
                  <a:schemeClr val="bg1"/>
                </a:solidFill>
                <a:latin typeface="Calibri" panose="020F0502020204030204" pitchFamily="34" charset="0"/>
                <a:cs typeface="Calibri" panose="020F0502020204030204" pitchFamily="34" charset="0"/>
              </a:rPr>
              <a:t>Thank you !</a:t>
            </a:r>
          </a:p>
        </p:txBody>
      </p:sp>
    </p:spTree>
    <p:extLst>
      <p:ext uri="{BB962C8B-B14F-4D97-AF65-F5344CB8AC3E}">
        <p14:creationId xmlns:p14="http://schemas.microsoft.com/office/powerpoint/2010/main" val="451518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997</TotalTime>
  <Words>879</Words>
  <Application>Microsoft Office PowerPoint</Application>
  <PresentationFormat>Widescreen</PresentationFormat>
  <Paragraphs>220</Paragraphs>
  <Slides>15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mk.khan0786@outlook.com</dc:creator>
  <cp:lastModifiedBy>mk.khan0786@outlook.com</cp:lastModifiedBy>
  <cp:revision>64</cp:revision>
  <dcterms:created xsi:type="dcterms:W3CDTF">2026-05-29T02:51:11Z</dcterms:created>
  <dcterms:modified xsi:type="dcterms:W3CDTF">2026-06-02T23:51:27Z</dcterms:modified>
</cp:coreProperties>
</file>